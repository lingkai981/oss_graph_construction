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68" r:id="rId6"/>
    <p:sldId id="262" r:id="rId7"/>
    <p:sldId id="271" r:id="rId8"/>
    <p:sldId id="269" r:id="rId9"/>
    <p:sldId id="263" r:id="rId10"/>
    <p:sldId id="267" r:id="rId11"/>
    <p:sldId id="270" r:id="rId12"/>
    <p:sldId id="265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61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683A3B-FD78-4D9D-A991-86A2BBBFFF33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86BFE4-A9B8-449C-A421-C94EBABDEB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21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6BFE4-A9B8-449C-A421-C94EBABDEB3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500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918E2-AA95-FD68-6FAB-70068067A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F6D9DE-0EA3-6C70-0784-3686AF68B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05AACB-197F-BB77-C4F2-FAB66D6007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A6D2E6-D194-9AB8-9F02-4C73015D4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6BFE4-A9B8-449C-A421-C94EBABDEB3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115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D0B83-A820-0EDE-6311-38B9DAE8C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715BFD-C495-FE8B-603F-2D89CE5CD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3C9A29-C28A-9F4D-E192-8DE895B47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57DA6E-53BE-20EA-8E8A-9CECF72435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6BFE4-A9B8-449C-A421-C94EBABDEB3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239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1CDA5-72F6-F076-03DF-F79C712B0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04531F-115C-4FFE-11AD-30DA1853A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7273EA-700E-CC4A-C34A-C7A7544D4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7AAA34-96A2-D02C-5F25-43EF205EF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6BFE4-A9B8-449C-A421-C94EBABDEB3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109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3BD61-F0C0-B843-7A5C-FF512209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4ED3B2-49EB-C0A2-6AD7-85BD9DC29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799B60-3C64-AE96-765C-7E577F435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923216-6B2C-DF72-A34A-B8DCC9652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6BFE4-A9B8-449C-A421-C94EBABDEB3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097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7C3DB-37B3-CB68-E9EE-F415BB854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9C2779-0AF3-2FEF-7619-F152AF884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C0ECBF4-0BF9-0A35-69C8-568517696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E3FBDE-556D-EFBB-2D4B-46ED11967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6BFE4-A9B8-449C-A421-C94EBABDEB3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225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B9F52-4D1D-D5BB-96AC-DD4D3FC8D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A32509-F785-3FBC-6A4E-D6F5F58A8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3A359F-FDA1-3072-861E-9C77C451E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613B98-51D3-CAC3-8C98-16E777395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6BFE4-A9B8-449C-A421-C94EBABDEB3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138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6E972-D595-A0A2-9AE1-C2CCD96AA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89D691-ED33-35E9-11AE-F4CF48002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10FE4A-99A8-CFCB-8EE6-51D2CA739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0C3BF7-1618-0222-334B-BEF38D9310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6BFE4-A9B8-449C-A421-C94EBABDEB3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152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0FBA0-4B2F-7C08-3D2E-9DACBD53A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762527-9949-2D31-8AA4-5D6B7DA38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E368E5-E4C8-E497-6A98-FF29235ED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860F2A-B482-B163-F18C-CF27BEA95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6BFE4-A9B8-449C-A421-C94EBABDEB3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050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ECA60-564F-CDF4-C845-58085607B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21E2A1-48F9-80C2-2C70-461ECFF1C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EB7A16-31AB-7945-15BA-22C865B7F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DC0D1-CF1A-4455-B7A6-F9431532D9FA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C9C5F2-C26A-9A78-0F84-14A09D542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82B2DC-0858-841A-3388-291FE8860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D87D0-C2CD-4507-8266-321FECD077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1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F9409-C059-0FB0-6C27-15B02A095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10BFCE-1C90-B490-3703-DB1C23CC1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814B25-8538-A116-2B87-6599D4DA1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DC0D1-CF1A-4455-B7A6-F9431532D9FA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BFD4E1-67C1-ED8C-BE4F-ACD0A6D07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AA300E-3D78-46B9-C0AB-B5C12589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D87D0-C2CD-4507-8266-321FECD077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098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135E0-0DD3-8E17-2440-59A57EF5B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442B1B-300C-4344-01DB-0DA190A25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FA99D1-F513-496D-782D-1AF82B480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DC0D1-CF1A-4455-B7A6-F9431532D9FA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7B3508-70F8-F9FE-BD5A-CE802E42D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BE4375-5D14-EAD0-E4A6-BBFEF49CB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D87D0-C2CD-4507-8266-321FECD077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480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44F650-DD61-A64D-0E29-BAB54CBDD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A61052-5E4C-96D1-67A9-77B14ABAF2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A0DEA1-CB6A-F3D5-DE39-70A3874EB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893E33-891C-5D61-B440-3DE93E29F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DC0D1-CF1A-4455-B7A6-F9431532D9FA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33E591-B50A-5B83-497B-911FE041C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494CA3-435F-1B58-BCA5-934A07275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D87D0-C2CD-4507-8266-321FECD077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393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615923-6FE3-6B6F-2D17-B1E5E4F80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FDAB4D-780E-87DC-95C9-363933854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A37280-7EED-7078-3657-9CFDF229A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CFE655D-E0F9-7C6A-992F-FDD05F2F3E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89E64C-6629-893B-E298-094494EDC8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A17A065-D6BB-51B6-36C2-BB3F427A6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DC0D1-CF1A-4455-B7A6-F9431532D9FA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3BDE173-16EE-D33B-CA2D-711644A00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BF84F6-B1FA-35CC-F410-7876C654E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D87D0-C2CD-4507-8266-321FECD077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921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6F48C5-DBF5-456A-104F-D03E19801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3CA3F1-A18E-1E46-F215-9E03A2013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DC0D1-CF1A-4455-B7A6-F9431532D9FA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F64816F-39C2-2BBC-3304-37F4519EA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D9EB7A-61C9-840B-F02F-4E4B8ED10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D87D0-C2CD-4507-8266-321FECD077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000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6B5E945-F670-8128-D975-1F509870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DC0D1-CF1A-4455-B7A6-F9431532D9FA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3100A9-3BFA-2AB0-F5EF-F011A606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3B2989-4076-45CD-D599-EC6400829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D87D0-C2CD-4507-8266-321FECD077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099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CFD33-6C75-523B-37EF-C7CEAD864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A87058-2231-E3B7-0A5A-905BB70B8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20C4A9-7E9B-3DB6-2081-CC54AD8C9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7DCFF6-F4F2-9792-A309-320ED9924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DC0D1-CF1A-4455-B7A6-F9431532D9FA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4782DE-BF9D-044C-6ACB-F801E602B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17D41A-9214-E168-E538-7B3D1F3BF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D87D0-C2CD-4507-8266-321FECD077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38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718D83-B1ED-2EF9-1D51-5ACD75EF4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E3C974D-27CA-4022-8701-466CB4C543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D3C052-9B04-FF91-90BC-DCA9829B3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DA90C7-7A52-E985-579E-CE06677B5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DC0D1-CF1A-4455-B7A6-F9431532D9FA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96FA17-E4C6-529A-4C6B-609B6FCE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DAF664-F75B-740B-02DE-BB72E4157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D87D0-C2CD-4507-8266-321FECD077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216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7C339D-D331-97E7-ABD8-8D7B7AE33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F37F58-A0BF-E25B-B010-8DD96C9DE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87845A-2B8A-52E6-AC27-C645E1465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DC0D1-CF1A-4455-B7A6-F9431532D9FA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A67D81-47C4-AE13-2A50-21B84879B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A53080-123B-CD6C-8C04-D49463A56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D87D0-C2CD-4507-8266-321FECD077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49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EF59458-15DE-AE32-086C-5E83C32FFF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F35608-2666-6BED-0630-AA493C55C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45D500-8FC5-7BE0-DCB6-A2341522A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DC0D1-CF1A-4455-B7A6-F9431532D9FA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7EB5F1-0FF4-1908-B44D-9B97D0714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C1745E-3863-50CE-3811-46D38E2BB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D87D0-C2CD-4507-8266-321FECD077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3010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CA7FC4-F060-0EB5-6657-C39EE9DFB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4F3EDE-DD46-07CB-F1BF-F23DA7A25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A00C4D-5E31-4185-647A-CFE05E20AA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DC0D1-CF1A-4455-B7A6-F9431532D9FA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68AFB3-D9A4-6836-7F1A-BF918E0BF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85BE70-3321-9653-F6CC-FFBDCFB06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7D87D0-C2CD-4507-8266-321FECD077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431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manchester.ac.uk/en/publications/evolution-of-communities-of-software-using-tensor-decompositions-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PolarisRisingWar/article/details/127981534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d.wanfangdata.com.cn/thesis/D03019306" TargetMode="External"/><Relationship Id="rId5" Type="http://schemas.openxmlformats.org/officeDocument/2006/relationships/hyperlink" Target="https://research.manchester.ac.uk/en/publications/evolution-of-communities-of-software-using-tensor-decompositions-" TargetMode="External"/><Relationship Id="rId4" Type="http://schemas.openxmlformats.org/officeDocument/2006/relationships/hyperlink" Target="https://pypi.org/project/networkx-temporal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ulioRossetti/dynetx/blob/master/docs/tutorial.rs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ghtorrent/tutorial/blob/master/index.md" TargetMode="External"/><Relationship Id="rId4" Type="http://schemas.openxmlformats.org/officeDocument/2006/relationships/hyperlink" Target="https://blog.csdn.net/weixin_42142630/article/details/116464486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6.10637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oment-timeseries-foundation-model/moment-research" TargetMode="External"/><Relationship Id="rId5" Type="http://schemas.openxmlformats.org/officeDocument/2006/relationships/hyperlink" Target="https://huggingface.co/AutonLab/MOMENT-1-large" TargetMode="External"/><Relationship Id="rId4" Type="http://schemas.openxmlformats.org/officeDocument/2006/relationships/hyperlink" Target="https://blog.csdn.net/buganything/article/details/141398052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9A9039-23D1-7FBD-AFE6-7A9F3F189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7838"/>
            <a:ext cx="9144000" cy="1043925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开源项目如何进行时序图建模调研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97DC90-3BD4-20A6-2E30-839D03B35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41747"/>
            <a:ext cx="9144000" cy="1043925"/>
          </a:xfrm>
        </p:spPr>
        <p:txBody>
          <a:bodyPr/>
          <a:lstStyle/>
          <a:p>
            <a:r>
              <a:rPr lang="zh-CN" altLang="en-US" dirty="0"/>
              <a:t>汇报人：段志鹏</a:t>
            </a:r>
            <a:endParaRPr lang="en-US" altLang="zh-CN" dirty="0"/>
          </a:p>
          <a:p>
            <a:r>
              <a:rPr lang="zh-CN" altLang="en-US" dirty="0"/>
              <a:t>汇报时间：</a:t>
            </a:r>
            <a:r>
              <a:rPr lang="en-US" altLang="zh-CN" dirty="0"/>
              <a:t>2025.12.19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725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FB991-2DDE-B0DC-65A0-05A459151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C51587-7B5E-3DFF-761C-54ED77D1E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637" y="631499"/>
            <a:ext cx="3676072" cy="889073"/>
          </a:xfrm>
        </p:spPr>
        <p:txBody>
          <a:bodyPr>
            <a:normAutofit/>
          </a:bodyPr>
          <a:lstStyle/>
          <a:p>
            <a:r>
              <a:rPr lang="zh-CN" altLang="en-US" sz="4400" dirty="0"/>
              <a:t>调研目标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154ACFC-097C-0119-6013-053C01F84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1491" y="1874765"/>
            <a:ext cx="9144000" cy="3907199"/>
          </a:xfrm>
        </p:spPr>
        <p:txBody>
          <a:bodyPr/>
          <a:lstStyle/>
          <a:p>
            <a:pPr algn="l"/>
            <a:r>
              <a:rPr lang="en-US" altLang="zh-CN" sz="2800" dirty="0"/>
              <a:t>1. </a:t>
            </a:r>
            <a:r>
              <a:rPr lang="zh-CN" altLang="en-US" sz="2800" dirty="0"/>
              <a:t>调研开源项目中常见的时序图建模方式</a:t>
            </a:r>
            <a:endParaRPr lang="en-US" altLang="zh-CN" sz="2800" dirty="0"/>
          </a:p>
          <a:p>
            <a:pPr algn="l"/>
            <a:endParaRPr lang="zh-CN" altLang="en-US" sz="2800" dirty="0"/>
          </a:p>
          <a:p>
            <a:pPr algn="l"/>
            <a:r>
              <a:rPr lang="en-US" altLang="zh-CN" sz="2800" dirty="0"/>
              <a:t>2. </a:t>
            </a:r>
            <a:r>
              <a:rPr lang="zh-CN" altLang="en-US" sz="2800" dirty="0"/>
              <a:t>总结不同建模方式及其特点</a:t>
            </a:r>
            <a:endParaRPr lang="en-US" altLang="zh-CN" sz="2800" dirty="0"/>
          </a:p>
          <a:p>
            <a:pPr algn="l"/>
            <a:endParaRPr lang="zh-CN" altLang="en-US" sz="2800" dirty="0"/>
          </a:p>
          <a:p>
            <a:pPr algn="l"/>
            <a:r>
              <a:rPr lang="en-US" altLang="zh-CN" sz="2800" dirty="0"/>
              <a:t>3. </a:t>
            </a:r>
            <a:r>
              <a:rPr lang="zh-CN" altLang="en-US" sz="2800" dirty="0"/>
              <a:t>为时序图智能代理研究提供参考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9521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F4BD2-DAAE-6212-8777-3F494C713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84474-374F-843D-3919-EC7C046AD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617" y="326414"/>
            <a:ext cx="5979460" cy="889073"/>
          </a:xfrm>
        </p:spPr>
        <p:txBody>
          <a:bodyPr>
            <a:normAutofit/>
          </a:bodyPr>
          <a:lstStyle/>
          <a:p>
            <a:r>
              <a:rPr lang="zh-CN" altLang="en-US" sz="4400" dirty="0"/>
              <a:t>时间快照式时序图建模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130EC6-E6C3-E5E4-B188-9A890382D666}"/>
              </a:ext>
            </a:extLst>
          </p:cNvPr>
          <p:cNvSpPr txBox="1"/>
          <p:nvPr/>
        </p:nvSpPr>
        <p:spPr>
          <a:xfrm>
            <a:off x="570618" y="1449883"/>
            <a:ext cx="597946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b="1" dirty="0"/>
              <a:t>核心思想</a:t>
            </a:r>
            <a:endParaRPr lang="zh-CN" alt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/>
              <a:t>将时间划分为多个时间片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/>
              <a:t>每个时间片构建一张静态图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/>
              <a:t>按时间顺序形成图序列以描述演化过程</a:t>
            </a:r>
            <a:endParaRPr lang="en-US" altLang="zh-CN" sz="2400" dirty="0"/>
          </a:p>
          <a:p>
            <a:r>
              <a:rPr lang="zh-CN" altLang="en-US" sz="2400" b="1" dirty="0"/>
              <a:t>工具：</a:t>
            </a:r>
            <a:r>
              <a:rPr lang="en-US" altLang="zh-CN" sz="2400" dirty="0" err="1"/>
              <a:t>NetworkX</a:t>
            </a:r>
            <a:r>
              <a:rPr lang="zh-CN" altLang="en-US" sz="2400" dirty="0"/>
              <a:t>等图分析库</a:t>
            </a:r>
          </a:p>
          <a:p>
            <a:pPr lvl="1">
              <a:buFont typeface="Arial" panose="020B0604020202020204" pitchFamily="34" charset="0"/>
              <a:buChar char="•"/>
            </a:pPr>
            <a:endParaRPr lang="zh-CN" altLang="en-US" sz="2400" dirty="0"/>
          </a:p>
          <a:p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3EE9C12-0AF5-B4A5-FF07-95AADE5FBBD8}"/>
              </a:ext>
            </a:extLst>
          </p:cNvPr>
          <p:cNvSpPr txBox="1"/>
          <p:nvPr/>
        </p:nvSpPr>
        <p:spPr>
          <a:xfrm>
            <a:off x="570617" y="3607350"/>
            <a:ext cx="59794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b="1" dirty="0"/>
              <a:t>特点</a:t>
            </a:r>
            <a:endParaRPr lang="zh-CN" alt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/>
              <a:t>优点</a:t>
            </a:r>
            <a:r>
              <a:rPr lang="en-US" altLang="zh-CN" sz="2400" dirty="0"/>
              <a:t>:</a:t>
            </a:r>
            <a:r>
              <a:rPr lang="zh-CN" altLang="en-US" sz="2400" dirty="0"/>
              <a:t>结构清晰、易理解、可解释性强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/>
              <a:t>局限</a:t>
            </a:r>
            <a:r>
              <a:rPr lang="en-US" altLang="zh-CN" sz="2400" dirty="0"/>
              <a:t>:</a:t>
            </a:r>
            <a:r>
              <a:rPr lang="zh-CN" altLang="en-US" sz="2400" dirty="0"/>
              <a:t>时间粒度较粗，难以刻画细粒度行为变化</a:t>
            </a:r>
            <a:endParaRPr lang="en-US" altLang="zh-CN" sz="2400" dirty="0"/>
          </a:p>
          <a:p>
            <a:r>
              <a:rPr lang="zh-CN" altLang="en-US" sz="2400" b="1" dirty="0"/>
              <a:t>适用场景</a:t>
            </a:r>
            <a:endParaRPr lang="en-US" altLang="zh-CN" sz="24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/>
              <a:t>开源社区长期演化分析</a:t>
            </a:r>
            <a:endParaRPr lang="en-US" altLang="zh-CN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/>
              <a:t>项目健康度、活跃度等宏观指标评估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DCD7557-E80E-B784-3917-6B3514D2A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077" y="2391229"/>
            <a:ext cx="5273124" cy="301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685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31B79-1F8D-C823-34F9-9D92306C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5D051A-1C43-5601-9CBB-473AED903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068" y="0"/>
            <a:ext cx="10350812" cy="889073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4400" dirty="0"/>
              <a:t>案例</a:t>
            </a:r>
            <a:r>
              <a:rPr lang="en-US" altLang="zh-CN" sz="4400" dirty="0"/>
              <a:t>:</a:t>
            </a:r>
            <a:r>
              <a:rPr lang="zh-CN" altLang="en-US" sz="4400" dirty="0"/>
              <a:t>曼彻斯特大学开源软件生态演化分析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AF1356D-2CD2-DA62-87F7-1FB585BB55FC}"/>
              </a:ext>
            </a:extLst>
          </p:cNvPr>
          <p:cNvSpPr txBox="1"/>
          <p:nvPr/>
        </p:nvSpPr>
        <p:spPr>
          <a:xfrm>
            <a:off x="819361" y="1025423"/>
            <a:ext cx="1073906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建模对象：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GitHub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上约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100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万个开源项目（覆盖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Python/Java/Elm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等语言）</a:t>
            </a:r>
            <a:endParaRPr lang="en-US" altLang="zh-CN" sz="2000" b="0" i="0" dirty="0">
              <a:solidFill>
                <a:srgbClr val="000000"/>
              </a:solidFill>
              <a:effectLst/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案例来源：曼彻斯特大学公开论文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《Evolution of communities of software: Using tensor decompositions to compare software ecosystems》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（</a:t>
            </a:r>
            <a:r>
              <a:rPr lang="en-US" altLang="zh-CN" sz="2000" dirty="0">
                <a:solidFill>
                  <a:srgbClr val="0969DA"/>
                </a:solidFill>
                <a:hlinkClick r:id="rId3"/>
              </a:rPr>
              <a:t>https://research.manchester.ac.uk/en/publications/evolution-of-communities-of-software-using-tensor-decompositions-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）</a:t>
            </a:r>
            <a:endParaRPr lang="en-US" altLang="zh-CN" sz="2000" b="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核心操作：</a:t>
            </a:r>
          </a:p>
          <a:p>
            <a:pPr marL="742950" lvl="1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1.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时间粒度：按“年度”划分时间片</a:t>
            </a:r>
            <a:endParaRPr lang="en-US" altLang="zh-CN" sz="20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742950" lvl="1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2.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节点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/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边定义：节点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=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开源项目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/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开发者，边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=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项目依赖关系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/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开发者协作关系</a:t>
            </a:r>
          </a:p>
          <a:p>
            <a:pPr marL="742950" lvl="1" indent="-2857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3.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工具：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Inter"/>
              </a:rPr>
              <a:t>NetworkX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 +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Inter"/>
              </a:rPr>
              <a:t>Tensorly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（张量分解工具），用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`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Inter"/>
              </a:rPr>
              <a:t>to_snapshots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Inter"/>
              </a:rPr>
              <a:t>()`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生成年度静态图</a:t>
            </a:r>
            <a:endParaRPr lang="en-US" altLang="zh-CN" sz="2000" dirty="0">
              <a:solidFill>
                <a:srgbClr val="000000"/>
              </a:solidFill>
              <a:latin typeface="Inter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实际产出：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明确不同语言开源生态的演化差异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提出“调整互信息”作为社区数量的评估指标</a:t>
            </a:r>
            <a:endParaRPr lang="en-US" altLang="zh-CN" sz="20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367427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1575B-91C4-2CB0-08FA-838E5833E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A4A6871-E3D2-E6F8-C3EC-67BAA8BCA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012590"/>
              </p:ext>
            </p:extLst>
          </p:nvPr>
        </p:nvGraphicFramePr>
        <p:xfrm>
          <a:off x="562510" y="841426"/>
          <a:ext cx="10927084" cy="5805041"/>
        </p:xfrm>
        <a:graphic>
          <a:graphicData uri="http://schemas.openxmlformats.org/drawingml/2006/table">
            <a:tbl>
              <a:tblPr/>
              <a:tblGrid>
                <a:gridCol w="2731771">
                  <a:extLst>
                    <a:ext uri="{9D8B030D-6E8A-4147-A177-3AD203B41FA5}">
                      <a16:colId xmlns:a16="http://schemas.microsoft.com/office/drawing/2014/main" val="686153046"/>
                    </a:ext>
                  </a:extLst>
                </a:gridCol>
                <a:gridCol w="2731771">
                  <a:extLst>
                    <a:ext uri="{9D8B030D-6E8A-4147-A177-3AD203B41FA5}">
                      <a16:colId xmlns:a16="http://schemas.microsoft.com/office/drawing/2014/main" val="2489831019"/>
                    </a:ext>
                  </a:extLst>
                </a:gridCol>
                <a:gridCol w="2731771">
                  <a:extLst>
                    <a:ext uri="{9D8B030D-6E8A-4147-A177-3AD203B41FA5}">
                      <a16:colId xmlns:a16="http://schemas.microsoft.com/office/drawing/2014/main" val="2814026585"/>
                    </a:ext>
                  </a:extLst>
                </a:gridCol>
                <a:gridCol w="2731771">
                  <a:extLst>
                    <a:ext uri="{9D8B030D-6E8A-4147-A177-3AD203B41FA5}">
                      <a16:colId xmlns:a16="http://schemas.microsoft.com/office/drawing/2014/main" val="2846618337"/>
                    </a:ext>
                  </a:extLst>
                </a:gridCol>
              </a:tblGrid>
              <a:tr h="34804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1" dirty="0">
                          <a:solidFill>
                            <a:srgbClr val="000000"/>
                          </a:solidFill>
                          <a:effectLst/>
                        </a:rPr>
                        <a:t>资料名称</a:t>
                      </a:r>
                    </a:p>
                  </a:txBody>
                  <a:tcPr marL="69436" marR="69436" marT="46291" marB="46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1">
                          <a:solidFill>
                            <a:srgbClr val="000000"/>
                          </a:solidFill>
                          <a:effectLst/>
                        </a:rPr>
                        <a:t>类型</a:t>
                      </a:r>
                    </a:p>
                  </a:txBody>
                  <a:tcPr marL="69436" marR="69436" marT="46291" marB="46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1">
                          <a:solidFill>
                            <a:srgbClr val="000000"/>
                          </a:solidFill>
                          <a:effectLst/>
                        </a:rPr>
                        <a:t>公开链接</a:t>
                      </a:r>
                    </a:p>
                  </a:txBody>
                  <a:tcPr marL="69436" marR="69436" marT="46291" marB="46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1">
                          <a:solidFill>
                            <a:srgbClr val="000000"/>
                          </a:solidFill>
                          <a:effectLst/>
                        </a:rPr>
                        <a:t>核心说明</a:t>
                      </a:r>
                    </a:p>
                  </a:txBody>
                  <a:tcPr marL="69436" marR="69436" marT="46291" marB="46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89098"/>
                  </a:ext>
                </a:extLst>
              </a:tr>
              <a:tr h="119334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100" b="0" dirty="0">
                          <a:effectLst/>
                        </a:rPr>
                        <a:t>《Advances in Graph Neural Networks </a:t>
                      </a:r>
                      <a:r>
                        <a:rPr lang="zh-CN" altLang="en-US" sz="1100" b="0" dirty="0">
                          <a:effectLst/>
                        </a:rPr>
                        <a:t>笔记 </a:t>
                      </a:r>
                      <a:r>
                        <a:rPr lang="en-US" altLang="zh-CN" sz="1100" b="0" dirty="0">
                          <a:effectLst/>
                        </a:rPr>
                        <a:t>5:</a:t>
                      </a:r>
                      <a:r>
                        <a:rPr lang="en-US" sz="1100" b="0" dirty="0">
                          <a:effectLst/>
                        </a:rPr>
                        <a:t>Dynamic Graph Neural Networks》</a:t>
                      </a:r>
                    </a:p>
                  </a:txBody>
                  <a:tcPr marL="69436" marR="69436" marT="46291" marB="46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</a:rPr>
                        <a:t>技术博客（</a:t>
                      </a:r>
                      <a:r>
                        <a:rPr lang="en-US" altLang="zh-CN" sz="1100" b="0" dirty="0">
                          <a:effectLst/>
                        </a:rPr>
                        <a:t>CSDN</a:t>
                      </a:r>
                      <a:r>
                        <a:rPr lang="zh-CN" altLang="en-US" sz="1100" b="0" dirty="0">
                          <a:effectLst/>
                        </a:rPr>
                        <a:t>）</a:t>
                      </a:r>
                    </a:p>
                  </a:txBody>
                  <a:tcPr marL="69436" marR="69436" marT="46291" marB="46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100" b="0" u="none" strike="noStrike">
                          <a:solidFill>
                            <a:srgbClr val="0969DA"/>
                          </a:solidFill>
                          <a:effectLst/>
                          <a:hlinkClick r:id="rId3"/>
                        </a:rPr>
                        <a:t>https://blog.csdn.net/PolarisRisingWar/article/details/127981534</a:t>
                      </a:r>
                      <a:endParaRPr lang="en-US" sz="1100" b="0">
                        <a:effectLst/>
                      </a:endParaRPr>
                    </a:p>
                  </a:txBody>
                  <a:tcPr marL="69436" marR="69436" marT="46291" marB="46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0">
                          <a:effectLst/>
                        </a:rPr>
                        <a:t>明确动态图的快照式建模逻辑，提出 “分割时间片生成快照序列” 的核心方法，适配开源项目宏观演化分析。</a:t>
                      </a:r>
                    </a:p>
                  </a:txBody>
                  <a:tcPr marL="69436" marR="69436" marT="46291" marB="46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767677"/>
                  </a:ext>
                </a:extLst>
              </a:tr>
              <a:tr h="142121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100" b="0" dirty="0" err="1">
                          <a:effectLst/>
                        </a:rPr>
                        <a:t>networkx</a:t>
                      </a:r>
                      <a:r>
                        <a:rPr lang="en-US" sz="1100" b="0" dirty="0">
                          <a:effectLst/>
                        </a:rPr>
                        <a:t>-temporal 1.2.1</a:t>
                      </a:r>
                    </a:p>
                  </a:txBody>
                  <a:tcPr marL="69436" marR="69436" marT="46291" marB="46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</a:rPr>
                        <a:t>工具文档（</a:t>
                      </a:r>
                      <a:r>
                        <a:rPr lang="en-US" altLang="zh-CN" sz="1100" b="0" dirty="0" err="1">
                          <a:effectLst/>
                        </a:rPr>
                        <a:t>PyPI</a:t>
                      </a:r>
                      <a:r>
                        <a:rPr lang="zh-CN" altLang="en-US" sz="1100" b="0" dirty="0">
                          <a:effectLst/>
                        </a:rPr>
                        <a:t>）</a:t>
                      </a:r>
                    </a:p>
                  </a:txBody>
                  <a:tcPr marL="69436" marR="69436" marT="46291" marB="46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969DA"/>
                          </a:solidFill>
                          <a:effectLst/>
                          <a:hlinkClick r:id="rId4"/>
                        </a:rPr>
                        <a:t>https://pypi.org/project/networkx-temporal/</a:t>
                      </a:r>
                      <a:endParaRPr lang="en-US" sz="1100" b="0" dirty="0">
                        <a:effectLst/>
                      </a:endParaRPr>
                    </a:p>
                  </a:txBody>
                  <a:tcPr marL="69436" marR="69436" marT="46291" marB="46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0">
                          <a:effectLst/>
                        </a:rPr>
                        <a:t>基于 </a:t>
                      </a:r>
                      <a:r>
                        <a:rPr lang="en-US" altLang="zh-CN" sz="1100" b="0">
                          <a:effectLst/>
                        </a:rPr>
                        <a:t>NetworkX </a:t>
                      </a:r>
                      <a:r>
                        <a:rPr lang="zh-CN" altLang="en-US" sz="1100" b="0">
                          <a:effectLst/>
                        </a:rPr>
                        <a:t>的时序图工具，提供</a:t>
                      </a:r>
                      <a:r>
                        <a:rPr lang="en-US" altLang="zh-CN" sz="1100" b="0">
                          <a:solidFill>
                            <a:srgbClr val="000000"/>
                          </a:solidFill>
                          <a:effectLst/>
                          <a:latin typeface="Menlo"/>
                        </a:rPr>
                        <a:t>to_snapshots()</a:t>
                      </a:r>
                      <a:r>
                        <a:rPr lang="zh-CN" altLang="en-US" sz="1100" b="0">
                          <a:effectLst/>
                        </a:rPr>
                        <a:t>等现成方法，支持按时间粒度拆分静态图，是快照式建模的核心工具支撑。</a:t>
                      </a:r>
                    </a:p>
                  </a:txBody>
                  <a:tcPr marL="69436" marR="69436" marT="46291" marB="46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480606"/>
                  </a:ext>
                </a:extLst>
              </a:tr>
              <a:tr h="142121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100" b="0" dirty="0">
                          <a:effectLst/>
                        </a:rPr>
                        <a:t>《Evolution of communities of software: Using tensor decompositions to compare software ecosystems》</a:t>
                      </a:r>
                    </a:p>
                  </a:txBody>
                  <a:tcPr marL="69436" marR="69436" marT="46291" marB="46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0">
                          <a:effectLst/>
                        </a:rPr>
                        <a:t>学术论文（曼彻斯特大学）</a:t>
                      </a:r>
                    </a:p>
                  </a:txBody>
                  <a:tcPr marL="69436" marR="69436" marT="46291" marB="46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969DA"/>
                          </a:solidFill>
                          <a:effectLst/>
                          <a:hlinkClick r:id="rId5"/>
                        </a:rPr>
                        <a:t>https://research.manchester.ac.uk/en/publications/evolution-of-communities-of-software-using-tensor-decompositions-</a:t>
                      </a:r>
                      <a:endParaRPr lang="en-US" sz="1100" b="0" dirty="0">
                        <a:effectLst/>
                      </a:endParaRPr>
                    </a:p>
                  </a:txBody>
                  <a:tcPr marL="69436" marR="69436" marT="46291" marB="46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0">
                          <a:effectLst/>
                        </a:rPr>
                        <a:t>以百万级开源项目为数据，用快照式建模分析软件生态社区演化，提供 “版本迭代 </a:t>
                      </a:r>
                      <a:r>
                        <a:rPr lang="en-US" altLang="zh-CN" sz="1100" b="0">
                          <a:effectLst/>
                        </a:rPr>
                        <a:t>- </a:t>
                      </a:r>
                      <a:r>
                        <a:rPr lang="zh-CN" altLang="en-US" sz="1100" b="0">
                          <a:effectLst/>
                        </a:rPr>
                        <a:t>快照拆分 </a:t>
                      </a:r>
                      <a:r>
                        <a:rPr lang="en-US" altLang="zh-CN" sz="1100" b="0">
                          <a:effectLst/>
                        </a:rPr>
                        <a:t>- </a:t>
                      </a:r>
                      <a:r>
                        <a:rPr lang="zh-CN" altLang="en-US" sz="1100" b="0">
                          <a:effectLst/>
                        </a:rPr>
                        <a:t>生态对比” 的实操案例。</a:t>
                      </a:r>
                    </a:p>
                  </a:txBody>
                  <a:tcPr marL="69436" marR="69436" marT="46291" marB="46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403026"/>
                  </a:ext>
                </a:extLst>
              </a:tr>
              <a:tr h="142121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altLang="zh-CN" sz="1100" b="0" dirty="0">
                          <a:effectLst/>
                        </a:rPr>
                        <a:t>《GitHub </a:t>
                      </a:r>
                      <a:r>
                        <a:rPr lang="zh-CN" altLang="en-US" sz="1100" b="0" dirty="0">
                          <a:effectLst/>
                        </a:rPr>
                        <a:t>中开源软件生态系统的演化研究</a:t>
                      </a:r>
                      <a:r>
                        <a:rPr lang="en-US" altLang="zh-CN" sz="1100" b="0" dirty="0">
                          <a:effectLst/>
                        </a:rPr>
                        <a:t>》</a:t>
                      </a:r>
                    </a:p>
                  </a:txBody>
                  <a:tcPr marL="69436" marR="69436" marT="46291" marB="46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</a:rPr>
                        <a:t>学位论文（万方数据）</a:t>
                      </a:r>
                    </a:p>
                  </a:txBody>
                  <a:tcPr marL="69436" marR="69436" marT="46291" marB="46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969DA"/>
                          </a:solidFill>
                          <a:effectLst/>
                          <a:hlinkClick r:id="rId6"/>
                        </a:rPr>
                        <a:t>http://d.wanfangdata.com.cn/thesis/D03019306</a:t>
                      </a:r>
                      <a:endParaRPr lang="en-US" sz="1100" b="0" dirty="0">
                        <a:effectLst/>
                      </a:endParaRPr>
                    </a:p>
                  </a:txBody>
                  <a:tcPr marL="69436" marR="69436" marT="46291" marB="46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</a:rPr>
                        <a:t>提出用快照序列建模 </a:t>
                      </a:r>
                      <a:r>
                        <a:rPr lang="en-US" altLang="zh-CN" sz="1100" b="0" dirty="0">
                          <a:effectLst/>
                        </a:rPr>
                        <a:t>GitHub </a:t>
                      </a:r>
                      <a:r>
                        <a:rPr lang="zh-CN" altLang="en-US" sz="1100" b="0" dirty="0">
                          <a:effectLst/>
                        </a:rPr>
                        <a:t>开源生态，定义 “新生 </a:t>
                      </a:r>
                      <a:r>
                        <a:rPr lang="en-US" altLang="zh-CN" sz="1100" b="0" dirty="0">
                          <a:effectLst/>
                        </a:rPr>
                        <a:t>/ </a:t>
                      </a:r>
                      <a:r>
                        <a:rPr lang="zh-CN" altLang="en-US" sz="1100" b="0" dirty="0">
                          <a:effectLst/>
                        </a:rPr>
                        <a:t>发展 </a:t>
                      </a:r>
                      <a:r>
                        <a:rPr lang="en-US" altLang="zh-CN" sz="1100" b="0" dirty="0">
                          <a:effectLst/>
                        </a:rPr>
                        <a:t>/ </a:t>
                      </a:r>
                      <a:r>
                        <a:rPr lang="zh-CN" altLang="en-US" sz="1100" b="0" dirty="0">
                          <a:effectLst/>
                        </a:rPr>
                        <a:t>消亡” 三种演化状态，为快照式建模提供开源场景的落地思路。</a:t>
                      </a:r>
                    </a:p>
                  </a:txBody>
                  <a:tcPr marL="69436" marR="69436" marT="46291" marB="462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114820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36555A2A-C59E-DAAD-3588-8A43340BDD93}"/>
              </a:ext>
            </a:extLst>
          </p:cNvPr>
          <p:cNvSpPr txBox="1"/>
          <p:nvPr/>
        </p:nvSpPr>
        <p:spPr>
          <a:xfrm>
            <a:off x="398124" y="334823"/>
            <a:ext cx="6097712" cy="388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buNone/>
            </a:pPr>
            <a:r>
              <a:rPr lang="zh-CN" altLang="en-US" sz="360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时间快照式建模相关资料</a:t>
            </a:r>
          </a:p>
        </p:txBody>
      </p:sp>
    </p:spTree>
    <p:extLst>
      <p:ext uri="{BB962C8B-B14F-4D97-AF65-F5344CB8AC3E}">
        <p14:creationId xmlns:p14="http://schemas.microsoft.com/office/powerpoint/2010/main" val="1672310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273F7-53F0-756C-D1D6-586B26053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4078C6-BCAC-C530-10E3-EB01C994F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64" y="244220"/>
            <a:ext cx="5522260" cy="889073"/>
          </a:xfrm>
        </p:spPr>
        <p:txBody>
          <a:bodyPr>
            <a:normAutofit fontScale="90000"/>
          </a:bodyPr>
          <a:lstStyle/>
          <a:p>
            <a:r>
              <a:rPr lang="zh-CN" altLang="en-US" sz="4400" dirty="0"/>
              <a:t>事件驱动式时序图建模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EA1520B-626D-EB06-81D4-C9BC764321D7}"/>
              </a:ext>
            </a:extLst>
          </p:cNvPr>
          <p:cNvSpPr txBox="1"/>
          <p:nvPr/>
        </p:nvSpPr>
        <p:spPr>
          <a:xfrm>
            <a:off x="762000" y="1442027"/>
            <a:ext cx="760116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b="1" dirty="0"/>
              <a:t>核心思想</a:t>
            </a:r>
            <a:endParaRPr lang="zh-CN" alt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/>
              <a:t>以事件为建模核心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/>
              <a:t>节点和边随事件动态产生或消失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/>
              <a:t>每个事件带有精确时间戳</a:t>
            </a:r>
          </a:p>
          <a:p>
            <a:pPr>
              <a:buNone/>
            </a:pPr>
            <a:r>
              <a:rPr lang="zh-CN" altLang="en-US" sz="2400" b="1" dirty="0"/>
              <a:t>工具</a:t>
            </a:r>
            <a:r>
              <a:rPr lang="en-US" altLang="zh-CN" sz="2400" b="1" dirty="0"/>
              <a:t>:</a:t>
            </a:r>
            <a:r>
              <a:rPr lang="en-US" altLang="zh-CN" sz="2400" dirty="0" err="1"/>
              <a:t>DyNetX</a:t>
            </a:r>
            <a:r>
              <a:rPr lang="en-US" altLang="zh-CN" sz="2400" dirty="0"/>
              <a:t>(</a:t>
            </a:r>
            <a:r>
              <a:rPr lang="zh-CN" altLang="en-US" sz="2400" dirty="0"/>
              <a:t>处理随时间演变网络的强大工具集</a:t>
            </a:r>
            <a:r>
              <a:rPr lang="en-US" altLang="zh-CN" sz="2400" dirty="0"/>
              <a:t>)</a:t>
            </a:r>
          </a:p>
          <a:p>
            <a:pPr>
              <a:buNone/>
            </a:pPr>
            <a:r>
              <a:rPr lang="zh-CN" altLang="en-US" sz="2400" b="1" dirty="0"/>
              <a:t>特点</a:t>
            </a:r>
            <a:endParaRPr lang="zh-CN" alt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/>
              <a:t>优点：建模精细，真实反映演化过程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/>
              <a:t>局限：数据结构复杂，分析成本较高</a:t>
            </a:r>
            <a:endParaRPr lang="en-US" altLang="zh-CN" sz="2400" dirty="0"/>
          </a:p>
          <a:p>
            <a:r>
              <a:rPr lang="zh-CN" altLang="en-US" sz="2400" b="1" dirty="0"/>
              <a:t>适用场景</a:t>
            </a:r>
            <a:endParaRPr lang="en-US" altLang="zh-CN" sz="24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/>
              <a:t>开发者行为路径分析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/>
              <a:t>协作模式、交互频率等细粒度分析任务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endParaRPr lang="zh-CN" altLang="en-US" sz="2400" dirty="0"/>
          </a:p>
          <a:p>
            <a:pPr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9887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3D09B-B4F8-3ACB-54C8-341B4E9D6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C363E3-3781-5381-69FD-9EAC9B366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926" y="-125650"/>
            <a:ext cx="8337076" cy="889073"/>
          </a:xfrm>
        </p:spPr>
        <p:txBody>
          <a:bodyPr>
            <a:normAutofit fontScale="90000"/>
          </a:bodyPr>
          <a:lstStyle/>
          <a:p>
            <a:r>
              <a:rPr lang="en-US" altLang="zh-CN" sz="4400" dirty="0"/>
              <a:t>GitHub </a:t>
            </a:r>
            <a:r>
              <a:rPr lang="zh-CN" altLang="en-US" sz="4400" dirty="0"/>
              <a:t>开源项目事件驱动建模流程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E903A8C-3A82-3C3C-8241-E49D4E28AD53}"/>
              </a:ext>
            </a:extLst>
          </p:cNvPr>
          <p:cNvSpPr txBox="1"/>
          <p:nvPr/>
        </p:nvSpPr>
        <p:spPr>
          <a:xfrm>
            <a:off x="443501" y="763423"/>
            <a:ext cx="11402602" cy="658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1. </a:t>
            </a:r>
            <a:r>
              <a:rPr lang="zh-CN" altLang="en-US" sz="2000" b="1" dirty="0"/>
              <a:t>节点类型</a:t>
            </a:r>
            <a:endParaRPr lang="en-US" altLang="zh-CN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Developer</a:t>
            </a:r>
            <a:r>
              <a:rPr lang="zh-CN" altLang="en-US" sz="2000" dirty="0"/>
              <a:t>：项目贡献者（如代码提交者、</a:t>
            </a:r>
            <a:r>
              <a:rPr lang="en-US" altLang="zh-CN" sz="2000" dirty="0"/>
              <a:t>PR </a:t>
            </a:r>
            <a:r>
              <a:rPr lang="zh-CN" altLang="en-US" sz="2000" dirty="0"/>
              <a:t>评审者）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Repository</a:t>
            </a:r>
            <a:r>
              <a:rPr lang="zh-CN" altLang="en-US" sz="2000" dirty="0"/>
              <a:t>：代码仓库（如</a:t>
            </a:r>
            <a:r>
              <a:rPr lang="en-US" altLang="zh-CN" sz="2000" dirty="0"/>
              <a:t>requests</a:t>
            </a:r>
            <a:r>
              <a:rPr lang="zh-CN" altLang="en-US" sz="2000" dirty="0"/>
              <a:t>、</a:t>
            </a:r>
            <a:r>
              <a:rPr lang="en-US" altLang="zh-CN" sz="2000" dirty="0"/>
              <a:t>Spring Boot</a:t>
            </a:r>
            <a:r>
              <a:rPr lang="zh-CN" altLang="en-US" sz="2000" dirty="0"/>
              <a:t>等任意开源仓库）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Issue / Pull Request</a:t>
            </a:r>
            <a:r>
              <a:rPr lang="zh-CN" altLang="en-US" sz="2000" dirty="0"/>
              <a:t>：任务与代码变更对象（开源项目核心协作载体）</a:t>
            </a:r>
          </a:p>
          <a:p>
            <a:r>
              <a:rPr lang="en-US" altLang="zh-CN" sz="2000" b="1" dirty="0"/>
              <a:t>2. </a:t>
            </a:r>
            <a:r>
              <a:rPr lang="zh-CN" altLang="en-US" sz="2000" b="1" dirty="0"/>
              <a:t>事件类型</a:t>
            </a:r>
            <a:endParaRPr lang="en-US" altLang="zh-CN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 err="1"/>
              <a:t>commit_to</a:t>
            </a:r>
            <a:r>
              <a:rPr lang="zh-CN" altLang="en-US" sz="2000" dirty="0"/>
              <a:t>：开发者向仓库提交代码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 err="1"/>
              <a:t>comment_on</a:t>
            </a:r>
            <a:r>
              <a:rPr lang="zh-CN" altLang="en-US" sz="2000" dirty="0"/>
              <a:t>：对 </a:t>
            </a:r>
            <a:r>
              <a:rPr lang="en-US" altLang="zh-CN" sz="2000" dirty="0"/>
              <a:t>Issue/PR </a:t>
            </a:r>
            <a:r>
              <a:rPr lang="zh-CN" altLang="en-US" sz="2000" dirty="0"/>
              <a:t>的评论行为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review</a:t>
            </a:r>
            <a:r>
              <a:rPr lang="zh-CN" altLang="en-US" sz="2000" dirty="0"/>
              <a:t>：对 </a:t>
            </a:r>
            <a:r>
              <a:rPr lang="en-US" altLang="zh-CN" sz="2000" dirty="0"/>
              <a:t>Pull Request </a:t>
            </a:r>
            <a:r>
              <a:rPr lang="zh-CN" altLang="en-US" sz="2000" dirty="0"/>
              <a:t>的评审行为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 err="1"/>
              <a:t>pr_merged</a:t>
            </a:r>
            <a:r>
              <a:rPr lang="zh-CN" altLang="en-US" sz="2000" dirty="0"/>
              <a:t>：维护者合并 </a:t>
            </a:r>
            <a:r>
              <a:rPr lang="en-US" altLang="zh-CN" sz="2000" dirty="0"/>
              <a:t>PR </a:t>
            </a:r>
            <a:r>
              <a:rPr lang="zh-CN" altLang="en-US" sz="2000" dirty="0"/>
              <a:t>的行为</a:t>
            </a:r>
          </a:p>
          <a:p>
            <a:r>
              <a:rPr lang="en-US" altLang="zh-CN" sz="2000" b="1" dirty="0"/>
              <a:t>3. </a:t>
            </a:r>
            <a:r>
              <a:rPr lang="zh-CN" altLang="en-US" sz="2000" b="1" dirty="0"/>
              <a:t>时间建模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采用事件发生时的秒级时间戳表示时间顺序，精准还原行为时序关系</a:t>
            </a:r>
            <a:endParaRPr lang="en-US" altLang="zh-CN" sz="2000" dirty="0"/>
          </a:p>
          <a:p>
            <a:r>
              <a:rPr lang="en-US" altLang="zh-CN" sz="2000" b="1" dirty="0"/>
              <a:t>4. </a:t>
            </a:r>
            <a:r>
              <a:rPr lang="zh-CN" altLang="en-US" sz="2000" b="1" dirty="0"/>
              <a:t>核心操作</a:t>
            </a:r>
            <a:endParaRPr lang="en-US" altLang="zh-CN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数据获取：通过 </a:t>
            </a:r>
            <a:r>
              <a:rPr lang="en-US" altLang="zh-CN" sz="2000" dirty="0"/>
              <a:t>GitHub API </a:t>
            </a:r>
            <a:r>
              <a:rPr lang="zh-CN" altLang="en-US" sz="2000" dirty="0"/>
              <a:t>或 </a:t>
            </a:r>
            <a:r>
              <a:rPr lang="en-US" altLang="zh-CN" sz="2000" dirty="0" err="1"/>
              <a:t>GHTorrent</a:t>
            </a:r>
            <a:r>
              <a:rPr lang="en-US" altLang="zh-CN" sz="2000" dirty="0"/>
              <a:t> </a:t>
            </a:r>
            <a:r>
              <a:rPr lang="zh-CN" altLang="en-US" sz="2000" dirty="0"/>
              <a:t>镜像库，采集目标项目的 </a:t>
            </a:r>
            <a:r>
              <a:rPr lang="en-US" altLang="zh-CN" sz="2000" dirty="0"/>
              <a:t>commit</a:t>
            </a:r>
            <a:r>
              <a:rPr lang="zh-CN" altLang="en-US" sz="2000" dirty="0"/>
              <a:t>、</a:t>
            </a:r>
            <a:r>
              <a:rPr lang="en-US" altLang="zh-CN" sz="2000" dirty="0"/>
              <a:t>Issue</a:t>
            </a:r>
            <a:r>
              <a:rPr lang="zh-CN" altLang="en-US" sz="2000" dirty="0"/>
              <a:t>、</a:t>
            </a:r>
            <a:r>
              <a:rPr lang="en-US" altLang="zh-CN" sz="2000" dirty="0"/>
              <a:t>PR </a:t>
            </a:r>
            <a:r>
              <a:rPr lang="zh-CN" altLang="en-US" sz="2000" dirty="0"/>
              <a:t>等事件数据；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数据处理：筛选有效事件（剔除测试提交、重复评论），按 “事件类型、触发者、目标对象、时间戳” 标准化整理；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建模落地：用 </a:t>
            </a:r>
            <a:r>
              <a:rPr lang="en-US" altLang="zh-CN" sz="2000" dirty="0" err="1"/>
              <a:t>DyNetX</a:t>
            </a:r>
            <a:r>
              <a:rPr lang="en-US" altLang="zh-CN" sz="2000" dirty="0"/>
              <a:t> </a:t>
            </a:r>
            <a:r>
              <a:rPr lang="zh-CN" altLang="en-US" sz="2000" dirty="0"/>
              <a:t>按时间戳顺序动态添加边，自动生成异构时序图（节点随边创建，无需提前定义）；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分析输出：提取任意时间段子图，挖掘协作模式、行为高峰等信息。</a:t>
            </a:r>
          </a:p>
          <a:p>
            <a:endParaRPr lang="zh-CN" altLang="en-US" sz="2400" dirty="0"/>
          </a:p>
          <a:p>
            <a:pPr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4726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14EDB-18D6-7DB3-D575-2888520B8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234D1-3942-08A5-F752-53DBA4CC29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393" y="151752"/>
            <a:ext cx="5491136" cy="587987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事件驱动式建模相关资料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B43EEAE-D1BB-6300-A13F-94A61D677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543769"/>
              </p:ext>
            </p:extLst>
          </p:nvPr>
        </p:nvGraphicFramePr>
        <p:xfrm>
          <a:off x="577765" y="754408"/>
          <a:ext cx="10559424" cy="5625843"/>
        </p:xfrm>
        <a:graphic>
          <a:graphicData uri="http://schemas.openxmlformats.org/drawingml/2006/table">
            <a:tbl>
              <a:tblPr/>
              <a:tblGrid>
                <a:gridCol w="2639856">
                  <a:extLst>
                    <a:ext uri="{9D8B030D-6E8A-4147-A177-3AD203B41FA5}">
                      <a16:colId xmlns:a16="http://schemas.microsoft.com/office/drawing/2014/main" val="556002721"/>
                    </a:ext>
                  </a:extLst>
                </a:gridCol>
                <a:gridCol w="2639856">
                  <a:extLst>
                    <a:ext uri="{9D8B030D-6E8A-4147-A177-3AD203B41FA5}">
                      <a16:colId xmlns:a16="http://schemas.microsoft.com/office/drawing/2014/main" val="1024863885"/>
                    </a:ext>
                  </a:extLst>
                </a:gridCol>
                <a:gridCol w="2639856">
                  <a:extLst>
                    <a:ext uri="{9D8B030D-6E8A-4147-A177-3AD203B41FA5}">
                      <a16:colId xmlns:a16="http://schemas.microsoft.com/office/drawing/2014/main" val="1142956023"/>
                    </a:ext>
                  </a:extLst>
                </a:gridCol>
                <a:gridCol w="2639856">
                  <a:extLst>
                    <a:ext uri="{9D8B030D-6E8A-4147-A177-3AD203B41FA5}">
                      <a16:colId xmlns:a16="http://schemas.microsoft.com/office/drawing/2014/main" val="1367636922"/>
                    </a:ext>
                  </a:extLst>
                </a:gridCol>
              </a:tblGrid>
              <a:tr h="383181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effectLst/>
                        </a:rPr>
                        <a:t>资料名称</a:t>
                      </a:r>
                    </a:p>
                  </a:txBody>
                  <a:tcPr marL="87611" marR="87611" marT="58407" marB="58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effectLst/>
                        </a:rPr>
                        <a:t>类型</a:t>
                      </a:r>
                    </a:p>
                  </a:txBody>
                  <a:tcPr marL="87611" marR="87611" marT="58407" marB="58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effectLst/>
                        </a:rPr>
                        <a:t>公开链接</a:t>
                      </a:r>
                    </a:p>
                  </a:txBody>
                  <a:tcPr marL="87611" marR="87611" marT="58407" marB="58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effectLst/>
                        </a:rPr>
                        <a:t>核心说明</a:t>
                      </a:r>
                    </a:p>
                  </a:txBody>
                  <a:tcPr marL="87611" marR="87611" marT="58407" marB="58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234435"/>
                  </a:ext>
                </a:extLst>
              </a:tr>
              <a:tr h="174755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400" b="0">
                          <a:effectLst/>
                        </a:rPr>
                        <a:t>DyNetX Tutorial</a:t>
                      </a:r>
                    </a:p>
                  </a:txBody>
                  <a:tcPr marL="87611" marR="87611" marT="58407" marB="58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0">
                          <a:effectLst/>
                        </a:rPr>
                        <a:t>工具教程（</a:t>
                      </a:r>
                      <a:r>
                        <a:rPr lang="en-US" sz="1400" b="0">
                          <a:effectLst/>
                        </a:rPr>
                        <a:t>GitHub）</a:t>
                      </a:r>
                    </a:p>
                  </a:txBody>
                  <a:tcPr marL="87611" marR="87611" marT="58407" marB="58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400" b="0" u="none" strike="noStrike">
                          <a:solidFill>
                            <a:srgbClr val="0969DA"/>
                          </a:solidFill>
                          <a:effectLst/>
                          <a:hlinkClick r:id="rId3"/>
                        </a:rPr>
                        <a:t>https://github.com/GiulioRossetti/dynetx/blob/master/docs/tutorial.rst</a:t>
                      </a:r>
                      <a:endParaRPr lang="en-US" sz="1400" b="0">
                        <a:effectLst/>
                      </a:endParaRPr>
                    </a:p>
                  </a:txBody>
                  <a:tcPr marL="87611" marR="87611" marT="58407" marB="58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</a:rPr>
                        <a:t>动态图工具 </a:t>
                      </a:r>
                      <a:r>
                        <a:rPr lang="en-US" altLang="zh-CN" sz="1400" b="0" dirty="0" err="1">
                          <a:effectLst/>
                        </a:rPr>
                        <a:t>DyNetX</a:t>
                      </a:r>
                      <a:r>
                        <a:rPr lang="en-US" altLang="zh-CN" sz="1400" b="0" dirty="0">
                          <a:effectLst/>
                        </a:rPr>
                        <a:t> </a:t>
                      </a:r>
                      <a:r>
                        <a:rPr lang="zh-CN" altLang="en-US" sz="1400" b="0" dirty="0">
                          <a:effectLst/>
                        </a:rPr>
                        <a:t>的官方教程，明确事件驱动建模的核心是 “带时间戳的交互事件”，提供动态添加边的实操方法。</a:t>
                      </a:r>
                    </a:p>
                  </a:txBody>
                  <a:tcPr marL="87611" marR="87611" marT="58407" marB="58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609135"/>
                  </a:ext>
                </a:extLst>
              </a:tr>
              <a:tr h="174755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altLang="zh-CN" sz="1400" b="0">
                          <a:effectLst/>
                        </a:rPr>
                        <a:t>《TGN </a:t>
                      </a:r>
                      <a:r>
                        <a:rPr lang="zh-CN" altLang="en-US" sz="1400" b="0">
                          <a:effectLst/>
                        </a:rPr>
                        <a:t>动态图论文解读</a:t>
                      </a:r>
                      <a:r>
                        <a:rPr lang="en-US" altLang="zh-CN" sz="1400" b="0">
                          <a:effectLst/>
                        </a:rPr>
                        <a:t>》</a:t>
                      </a:r>
                    </a:p>
                  </a:txBody>
                  <a:tcPr marL="87611" marR="87611" marT="58407" marB="58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0">
                          <a:effectLst/>
                        </a:rPr>
                        <a:t>技术博客（</a:t>
                      </a:r>
                      <a:r>
                        <a:rPr lang="en-US" altLang="zh-CN" sz="1400" b="0">
                          <a:effectLst/>
                        </a:rPr>
                        <a:t>CSDN</a:t>
                      </a:r>
                      <a:r>
                        <a:rPr lang="zh-CN" altLang="en-US" sz="1400" b="0">
                          <a:effectLst/>
                        </a:rPr>
                        <a:t>）</a:t>
                      </a:r>
                    </a:p>
                  </a:txBody>
                  <a:tcPr marL="87611" marR="87611" marT="58407" marB="58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400" b="0" u="none" strike="noStrike">
                          <a:solidFill>
                            <a:srgbClr val="0969DA"/>
                          </a:solidFill>
                          <a:effectLst/>
                          <a:hlinkClick r:id="rId4"/>
                        </a:rPr>
                        <a:t>https://blog.csdn.net/weixin_42142630/article/details/116464486</a:t>
                      </a:r>
                      <a:endParaRPr lang="en-US" sz="1400" b="0">
                        <a:effectLst/>
                      </a:endParaRPr>
                    </a:p>
                  </a:txBody>
                  <a:tcPr marL="87611" marR="87611" marT="58407" marB="58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</a:rPr>
                        <a:t>定义连续时间动态图（</a:t>
                      </a:r>
                      <a:r>
                        <a:rPr lang="en-US" altLang="zh-CN" sz="1400" b="0" dirty="0">
                          <a:effectLst/>
                        </a:rPr>
                        <a:t>CTDG</a:t>
                      </a:r>
                      <a:r>
                        <a:rPr lang="zh-CN" altLang="en-US" sz="1400" b="0" dirty="0">
                          <a:effectLst/>
                        </a:rPr>
                        <a:t>），说明事件驱动式建模的核心是 “捕获细粒度时间戳事件”，适配开发者协作、</a:t>
                      </a:r>
                      <a:r>
                        <a:rPr lang="en-US" altLang="zh-CN" sz="1400" b="0" dirty="0">
                          <a:effectLst/>
                        </a:rPr>
                        <a:t>Issue </a:t>
                      </a:r>
                      <a:r>
                        <a:rPr lang="zh-CN" altLang="en-US" sz="1400" b="0" dirty="0">
                          <a:effectLst/>
                        </a:rPr>
                        <a:t>交互等场景。</a:t>
                      </a:r>
                    </a:p>
                  </a:txBody>
                  <a:tcPr marL="87611" marR="87611" marT="58407" marB="58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332386"/>
                  </a:ext>
                </a:extLst>
              </a:tr>
              <a:tr h="174755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400" b="0">
                          <a:effectLst/>
                        </a:rPr>
                        <a:t>GHTorrent tutorial</a:t>
                      </a:r>
                    </a:p>
                  </a:txBody>
                  <a:tcPr marL="87611" marR="87611" marT="58407" marB="58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0">
                          <a:effectLst/>
                        </a:rPr>
                        <a:t>数据集教程（</a:t>
                      </a:r>
                      <a:r>
                        <a:rPr lang="en-US" sz="1400" b="0">
                          <a:effectLst/>
                        </a:rPr>
                        <a:t>GitHub）</a:t>
                      </a:r>
                    </a:p>
                  </a:txBody>
                  <a:tcPr marL="87611" marR="87611" marT="58407" marB="58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400" b="0" u="none" strike="noStrike">
                          <a:solidFill>
                            <a:srgbClr val="0969DA"/>
                          </a:solidFill>
                          <a:effectLst/>
                          <a:hlinkClick r:id="rId5"/>
                        </a:rPr>
                        <a:t>https://github.com/ghtorrent/tutorial/blob/master/index.md</a:t>
                      </a:r>
                      <a:endParaRPr lang="en-US" sz="1400" b="0">
                        <a:effectLst/>
                      </a:endParaRPr>
                    </a:p>
                  </a:txBody>
                  <a:tcPr marL="87611" marR="87611" marT="58407" marB="58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altLang="zh-CN" sz="1400" b="0" dirty="0">
                          <a:effectLst/>
                        </a:rPr>
                        <a:t>GitHub </a:t>
                      </a:r>
                      <a:r>
                        <a:rPr lang="zh-CN" altLang="en-US" sz="1400" b="0" dirty="0">
                          <a:effectLst/>
                        </a:rPr>
                        <a:t>数据镜像库的使用指南，提供 </a:t>
                      </a:r>
                      <a:r>
                        <a:rPr lang="en-US" altLang="zh-CN" sz="1400" b="0" dirty="0">
                          <a:effectLst/>
                        </a:rPr>
                        <a:t>commit/PR/Issue </a:t>
                      </a:r>
                      <a:r>
                        <a:rPr lang="zh-CN" altLang="en-US" sz="1400" b="0" dirty="0">
                          <a:effectLst/>
                        </a:rPr>
                        <a:t>等带时间戳的事件数据，是事件驱动建模的核心数据来源支撑。</a:t>
                      </a:r>
                    </a:p>
                  </a:txBody>
                  <a:tcPr marL="87611" marR="87611" marT="58407" marB="58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531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049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D3738-DC15-639B-5DB1-F143E3022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B6173-D5F1-EF23-188C-14EF31A51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312" y="0"/>
            <a:ext cx="6624918" cy="889073"/>
          </a:xfrm>
        </p:spPr>
        <p:txBody>
          <a:bodyPr>
            <a:normAutofit/>
          </a:bodyPr>
          <a:lstStyle/>
          <a:p>
            <a:pPr algn="l"/>
            <a:r>
              <a:rPr lang="zh-CN" altLang="en-US" sz="4400" dirty="0"/>
              <a:t>模型驱动式时序图建模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2AC13248-C66B-69F0-D4EE-A46EEEB6D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261" y="1133293"/>
            <a:ext cx="10130943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400" b="1" dirty="0"/>
              <a:t>核心思想</a:t>
            </a:r>
            <a:endParaRPr lang="en-US" altLang="zh-CN" sz="24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通过时间编码将时间信息融入图神经网络</a:t>
            </a:r>
            <a:endParaRPr lang="en-US" altLang="zh-C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基于历史时序图数据训练模型，实现预测</a:t>
            </a:r>
            <a:r>
              <a:rPr lang="en-US" altLang="zh-CN" sz="2400" dirty="0"/>
              <a:t>/</a:t>
            </a:r>
            <a:r>
              <a:rPr lang="zh-CN" altLang="en-US" sz="2400" dirty="0"/>
              <a:t>推理</a:t>
            </a:r>
          </a:p>
          <a:p>
            <a:r>
              <a:rPr lang="zh-CN" altLang="en-US" sz="2400" b="1" dirty="0"/>
              <a:t>模型：</a:t>
            </a:r>
            <a:r>
              <a:rPr lang="en-US" altLang="zh-CN" sz="2400" dirty="0"/>
              <a:t>TGAT</a:t>
            </a:r>
            <a:r>
              <a:rPr lang="zh-CN" altLang="en-US" sz="2400" dirty="0"/>
              <a:t>、</a:t>
            </a:r>
            <a:r>
              <a:rPr lang="en-US" altLang="zh-CN" sz="2400" dirty="0"/>
              <a:t>TGN</a:t>
            </a:r>
            <a:r>
              <a:rPr lang="zh-CN" altLang="en-US" sz="2400" dirty="0"/>
              <a:t>等时序图神经网络模型</a:t>
            </a:r>
            <a:endParaRPr lang="en-US" altLang="zh-CN" sz="2400" dirty="0"/>
          </a:p>
          <a:p>
            <a:r>
              <a:rPr lang="zh-CN" altLang="en-US" sz="2400" b="1" dirty="0"/>
              <a:t>辅助工具：</a:t>
            </a:r>
            <a:endParaRPr lang="en-US" altLang="zh-CN" sz="24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 err="1"/>
              <a:t>PyTorch</a:t>
            </a:r>
            <a:r>
              <a:rPr lang="en-US" altLang="zh-CN" sz="2400" dirty="0"/>
              <a:t> Geometric Temporal</a:t>
            </a:r>
            <a:r>
              <a:rPr lang="zh-CN" altLang="en-US" sz="2400" dirty="0"/>
              <a:t>（时序图建模框架）</a:t>
            </a:r>
            <a:endParaRPr lang="en-US" altLang="zh-C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Hugging Face Transformers</a:t>
            </a:r>
            <a:r>
              <a:rPr lang="zh-CN" altLang="en-US" sz="2400" dirty="0"/>
              <a:t>（预训练模型调用）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b="1" dirty="0"/>
              <a:t>特点</a:t>
            </a:r>
            <a:endParaRPr lang="zh-CN" alt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优点：预测能力强，适合演化趋势建模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局限：模型黑盒化，可解释性较弱</a:t>
            </a:r>
            <a:endParaRPr lang="en-US" altLang="zh-CN" sz="2400" dirty="0"/>
          </a:p>
          <a:p>
            <a:r>
              <a:rPr lang="zh-CN" altLang="en-US" sz="2400" b="1" dirty="0"/>
              <a:t>适用场景</a:t>
            </a:r>
            <a:endParaRPr lang="en-US" altLang="zh-CN" sz="24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开源项目风险预测</a:t>
            </a:r>
            <a:endParaRPr lang="en-US" altLang="zh-C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优先级排序</a:t>
            </a:r>
            <a:endParaRPr lang="en-US" altLang="zh-C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演化趋势预判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155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34C67-E540-0084-64C1-DD4B07813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F8202BA-F2D1-76C4-2891-F08A182D79A4}"/>
              </a:ext>
            </a:extLst>
          </p:cNvPr>
          <p:cNvSpPr txBox="1"/>
          <p:nvPr/>
        </p:nvSpPr>
        <p:spPr>
          <a:xfrm>
            <a:off x="696074" y="1211589"/>
            <a:ext cx="1037946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/>
                <a:ea typeface="等线" panose="02010600030101010101" pitchFamily="2" charset="-122"/>
                <a:cs typeface="+mn-cs"/>
              </a:rPr>
              <a:t>1.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/>
                <a:ea typeface="等线" panose="02010600030101010101" pitchFamily="2" charset="-122"/>
                <a:cs typeface="+mn-cs"/>
              </a:rPr>
              <a:t>数据预处理：筛选有效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/>
                <a:ea typeface="等线" panose="02010600030101010101" pitchFamily="2" charset="-122"/>
                <a:cs typeface="+mn-cs"/>
              </a:rPr>
              <a:t>Issue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/>
                <a:ea typeface="等线" panose="02010600030101010101" pitchFamily="2" charset="-122"/>
                <a:cs typeface="+mn-cs"/>
              </a:rPr>
              <a:t>（剔除测试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/>
                <a:ea typeface="等线" panose="02010600030101010101" pitchFamily="2" charset="-122"/>
                <a:cs typeface="+mn-cs"/>
              </a:rPr>
              <a:t>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/>
                <a:ea typeface="等线" panose="02010600030101010101" pitchFamily="2" charset="-122"/>
                <a:cs typeface="+mn-cs"/>
              </a:rPr>
              <a:t>重复条目），按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/>
                <a:ea typeface="等线" panose="02010600030101010101" pitchFamily="2" charset="-122"/>
                <a:cs typeface="+mn-cs"/>
              </a:rPr>
              <a:t>7:3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/>
                <a:ea typeface="等线" panose="02010600030101010101" pitchFamily="2" charset="-122"/>
                <a:cs typeface="+mn-cs"/>
              </a:rPr>
              <a:t>划分训练集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/>
                <a:ea typeface="等线" panose="02010600030101010101" pitchFamily="2" charset="-122"/>
                <a:cs typeface="+mn-cs"/>
              </a:rPr>
              <a:t>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/>
                <a:ea typeface="等线" panose="02010600030101010101" pitchFamily="2" charset="-122"/>
                <a:cs typeface="+mn-cs"/>
              </a:rPr>
              <a:t>测试集；</a:t>
            </a:r>
            <a:endParaRPr lang="en-US" altLang="zh-CN" sz="2400" b="0" i="0" dirty="0">
              <a:solidFill>
                <a:srgbClr val="000000"/>
              </a:solidFill>
              <a:effectLst/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Inter"/>
              </a:rPr>
              <a:t>2.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Inter"/>
              </a:rPr>
              <a:t>特征工程：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Inter"/>
              </a:rPr>
              <a:t>静态特征：标题长度、标签数量、开发者贡献历史权重；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000000"/>
                </a:solidFill>
                <a:effectLst/>
                <a:latin typeface="Inter"/>
              </a:rPr>
              <a:t>时间特征：创建时间戳、创建到首次评论的时间差、标签添加时间序列；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Inter"/>
              </a:rPr>
              <a:t>3.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Inter"/>
              </a:rPr>
              <a:t>时间编码：采用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Inter"/>
              </a:rPr>
              <a:t>TGN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Inter"/>
              </a:rPr>
              <a:t>模型的时间编码方案，将时间特征转化为 嵌入向量，与静态特征拼接；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Inter"/>
              </a:rPr>
              <a:t>4.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Inter"/>
              </a:rPr>
              <a:t>建模训练：用 </a:t>
            </a:r>
            <a:r>
              <a:rPr lang="en-US" altLang="zh-CN" sz="2400" b="0" i="0" dirty="0" err="1">
                <a:solidFill>
                  <a:srgbClr val="000000"/>
                </a:solidFill>
                <a:effectLst/>
                <a:latin typeface="Inter"/>
              </a:rPr>
              <a:t>PyTorch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Inter"/>
              </a:rPr>
              <a:t> Geometric Temporal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Inter"/>
              </a:rPr>
              <a:t>加载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Inter"/>
              </a:rPr>
              <a:t>TGAT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Inter"/>
              </a:rPr>
              <a:t>模型，输入 “节点（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Inter"/>
              </a:rPr>
              <a:t>Issue /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Inter"/>
              </a:rPr>
              <a:t>开发者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Inter"/>
              </a:rPr>
              <a:t>/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Inter"/>
              </a:rPr>
              <a:t>仓库）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Inter"/>
              </a:rPr>
              <a:t>-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Inter"/>
              </a:rPr>
              <a:t>边（评论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Inter"/>
              </a:rPr>
              <a:t>/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Inter"/>
              </a:rPr>
              <a:t>分配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Inter"/>
              </a:rPr>
              <a:t>/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Inter"/>
              </a:rPr>
              <a:t>归属关系）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Inter"/>
              </a:rPr>
              <a:t>-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Inter"/>
              </a:rPr>
              <a:t>时间嵌入” 三元组训练；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0" i="0" dirty="0">
                <a:solidFill>
                  <a:srgbClr val="000000"/>
                </a:solidFill>
                <a:effectLst/>
                <a:latin typeface="Inter"/>
              </a:rPr>
              <a:t>5.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Inter"/>
              </a:rPr>
              <a:t>预测输出：对新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Inter"/>
              </a:rPr>
              <a:t>Issue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Inter"/>
              </a:rPr>
              <a:t>输出优先级概率分布，按阈值判定高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Inter"/>
              </a:rPr>
              <a:t>/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Inter"/>
              </a:rPr>
              <a:t>中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Inter"/>
              </a:rPr>
              <a:t>/ 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Inter"/>
              </a:rPr>
              <a:t>低优先级。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A3B5101-B0DE-3866-6FDA-5825D1D5F3EA}"/>
              </a:ext>
            </a:extLst>
          </p:cNvPr>
          <p:cNvSpPr txBox="1"/>
          <p:nvPr/>
        </p:nvSpPr>
        <p:spPr>
          <a:xfrm>
            <a:off x="593332" y="214155"/>
            <a:ext cx="87664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rgbClr val="000000"/>
                </a:solidFill>
                <a:latin typeface="Inter"/>
              </a:rPr>
              <a:t>开源项目 </a:t>
            </a:r>
            <a:r>
              <a:rPr lang="en-US" altLang="zh-CN" sz="4000" dirty="0">
                <a:solidFill>
                  <a:srgbClr val="000000"/>
                </a:solidFill>
                <a:latin typeface="Inter"/>
              </a:rPr>
              <a:t>Issue </a:t>
            </a:r>
            <a:r>
              <a:rPr lang="zh-CN" altLang="en-US" sz="4000" dirty="0">
                <a:solidFill>
                  <a:srgbClr val="000000"/>
                </a:solidFill>
                <a:latin typeface="Inter"/>
              </a:rPr>
              <a:t>优先级预测操作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7876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7FA0C-6741-17DD-5086-85118503C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2D2F02-6A6F-4B81-D7FF-58D6C278F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215" y="-85260"/>
            <a:ext cx="5275378" cy="889073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/>
              <a:t>模型驱动式建模相关资料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0EBED60-E581-03E1-6254-8EACE3E8FC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63815"/>
              </p:ext>
            </p:extLst>
          </p:nvPr>
        </p:nvGraphicFramePr>
        <p:xfrm>
          <a:off x="369868" y="803813"/>
          <a:ext cx="11394040" cy="5658632"/>
        </p:xfrm>
        <a:graphic>
          <a:graphicData uri="http://schemas.openxmlformats.org/drawingml/2006/table">
            <a:tbl>
              <a:tblPr/>
              <a:tblGrid>
                <a:gridCol w="2848510">
                  <a:extLst>
                    <a:ext uri="{9D8B030D-6E8A-4147-A177-3AD203B41FA5}">
                      <a16:colId xmlns:a16="http://schemas.microsoft.com/office/drawing/2014/main" val="1125255319"/>
                    </a:ext>
                  </a:extLst>
                </a:gridCol>
                <a:gridCol w="2848510">
                  <a:extLst>
                    <a:ext uri="{9D8B030D-6E8A-4147-A177-3AD203B41FA5}">
                      <a16:colId xmlns:a16="http://schemas.microsoft.com/office/drawing/2014/main" val="2287438862"/>
                    </a:ext>
                  </a:extLst>
                </a:gridCol>
                <a:gridCol w="2848510">
                  <a:extLst>
                    <a:ext uri="{9D8B030D-6E8A-4147-A177-3AD203B41FA5}">
                      <a16:colId xmlns:a16="http://schemas.microsoft.com/office/drawing/2014/main" val="3370915410"/>
                    </a:ext>
                  </a:extLst>
                </a:gridCol>
                <a:gridCol w="2848510">
                  <a:extLst>
                    <a:ext uri="{9D8B030D-6E8A-4147-A177-3AD203B41FA5}">
                      <a16:colId xmlns:a16="http://schemas.microsoft.com/office/drawing/2014/main" val="1115635355"/>
                    </a:ext>
                  </a:extLst>
                </a:gridCol>
              </a:tblGrid>
              <a:tr h="382332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effectLst/>
                        </a:rPr>
                        <a:t>资料名称</a:t>
                      </a:r>
                    </a:p>
                  </a:txBody>
                  <a:tcPr marL="57507" marR="57507" marT="38338" marB="38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effectLst/>
                        </a:rPr>
                        <a:t>类型</a:t>
                      </a:r>
                    </a:p>
                  </a:txBody>
                  <a:tcPr marL="57507" marR="57507" marT="38338" marB="38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effectLst/>
                        </a:rPr>
                        <a:t>公开链接</a:t>
                      </a:r>
                    </a:p>
                  </a:txBody>
                  <a:tcPr marL="57507" marR="57507" marT="38338" marB="38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rgbClr val="000000"/>
                          </a:solidFill>
                          <a:effectLst/>
                        </a:rPr>
                        <a:t>核心说明</a:t>
                      </a:r>
                    </a:p>
                  </a:txBody>
                  <a:tcPr marL="57507" marR="57507" marT="38338" marB="38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60397"/>
                  </a:ext>
                </a:extLst>
              </a:tr>
              <a:tr h="1202379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400" b="0" dirty="0">
                          <a:effectLst/>
                        </a:rPr>
                        <a:t>《Temporal Graph Networks for Deep Learning on Dynamic Graphs》</a:t>
                      </a:r>
                    </a:p>
                  </a:txBody>
                  <a:tcPr marL="57507" marR="57507" marT="38338" marB="38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0">
                          <a:effectLst/>
                        </a:rPr>
                        <a:t>学术论文（</a:t>
                      </a:r>
                      <a:r>
                        <a:rPr lang="en-US" altLang="zh-CN" sz="1400" b="0">
                          <a:effectLst/>
                        </a:rPr>
                        <a:t>EMNLP</a:t>
                      </a:r>
                      <a:r>
                        <a:rPr lang="zh-CN" altLang="en-US" sz="1400" b="0">
                          <a:effectLst/>
                        </a:rPr>
                        <a:t>）</a:t>
                      </a:r>
                    </a:p>
                  </a:txBody>
                  <a:tcPr marL="57507" marR="57507" marT="38338" marB="38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altLang="zh-CN" sz="1400" dirty="0">
                          <a:hlinkClick r:id="rId3"/>
                        </a:rPr>
                        <a:t>[2006.10637] Temporal Graph Networks for Deep Learning on Dynamic Graphs</a:t>
                      </a:r>
                      <a:endParaRPr lang="zh-CN" altLang="en-US" sz="1400" b="0" dirty="0">
                        <a:effectLst/>
                      </a:endParaRPr>
                    </a:p>
                  </a:txBody>
                  <a:tcPr marL="57507" marR="57507" marT="38338" marB="38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</a:rPr>
                        <a:t>提出 </a:t>
                      </a:r>
                      <a:r>
                        <a:rPr lang="en-US" altLang="zh-CN" sz="1400" b="0" dirty="0">
                          <a:effectLst/>
                        </a:rPr>
                        <a:t>TGN</a:t>
                      </a:r>
                      <a:r>
                        <a:rPr lang="zh-CN" altLang="en-US" sz="1400" b="0" dirty="0">
                          <a:effectLst/>
                        </a:rPr>
                        <a:t>（时间图网络）框架，确立 “时间编码 </a:t>
                      </a:r>
                      <a:r>
                        <a:rPr lang="en-US" altLang="zh-CN" sz="1400" b="0" dirty="0">
                          <a:effectLst/>
                        </a:rPr>
                        <a:t>+ </a:t>
                      </a:r>
                      <a:r>
                        <a:rPr lang="zh-CN" altLang="en-US" sz="1400" b="0" dirty="0">
                          <a:effectLst/>
                        </a:rPr>
                        <a:t>图神经网络” 的模型驱动核心逻辑，支持动态图预测任务。</a:t>
                      </a:r>
                    </a:p>
                  </a:txBody>
                  <a:tcPr marL="57507" marR="57507" marT="38338" marB="38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30679"/>
                  </a:ext>
                </a:extLst>
              </a:tr>
              <a:tr h="1202379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altLang="zh-CN" sz="1400" b="0">
                          <a:effectLst/>
                        </a:rPr>
                        <a:t>《</a:t>
                      </a:r>
                      <a:r>
                        <a:rPr lang="zh-CN" altLang="en-US" sz="1400" b="0">
                          <a:effectLst/>
                        </a:rPr>
                        <a:t>读论文</a:t>
                      </a:r>
                      <a:r>
                        <a:rPr lang="en-US" altLang="zh-CN" sz="1400" b="0">
                          <a:effectLst/>
                        </a:rPr>
                        <a:t>《</a:t>
                      </a:r>
                      <a:r>
                        <a:rPr lang="en-US" sz="1400" b="0">
                          <a:effectLst/>
                        </a:rPr>
                        <a:t>Temporal Graph Networks for Deep Learning on Dynamic Graphs》》</a:t>
                      </a:r>
                    </a:p>
                  </a:txBody>
                  <a:tcPr marL="57507" marR="57507" marT="38338" marB="38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0">
                          <a:effectLst/>
                        </a:rPr>
                        <a:t>技术博客（</a:t>
                      </a:r>
                      <a:r>
                        <a:rPr lang="en-US" altLang="zh-CN" sz="1400" b="0">
                          <a:effectLst/>
                        </a:rPr>
                        <a:t>CSDN</a:t>
                      </a:r>
                      <a:r>
                        <a:rPr lang="zh-CN" altLang="en-US" sz="1400" b="0">
                          <a:effectLst/>
                        </a:rPr>
                        <a:t>）</a:t>
                      </a:r>
                    </a:p>
                  </a:txBody>
                  <a:tcPr marL="57507" marR="57507" marT="38338" marB="38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400" b="0" u="none" strike="noStrike">
                          <a:solidFill>
                            <a:srgbClr val="0969DA"/>
                          </a:solidFill>
                          <a:effectLst/>
                          <a:hlinkClick r:id="rId4"/>
                        </a:rPr>
                        <a:t>https://blog.csdn.net/buganything/article/details/141398052</a:t>
                      </a:r>
                      <a:endParaRPr lang="en-US" sz="1400" b="0">
                        <a:effectLst/>
                      </a:endParaRPr>
                    </a:p>
                  </a:txBody>
                  <a:tcPr marL="57507" marR="57507" marT="38338" marB="38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</a:rPr>
                        <a:t>详细解读 </a:t>
                      </a:r>
                      <a:r>
                        <a:rPr lang="en-US" altLang="zh-CN" sz="1400" b="0" dirty="0">
                          <a:effectLst/>
                        </a:rPr>
                        <a:t>TGN </a:t>
                      </a:r>
                      <a:r>
                        <a:rPr lang="zh-CN" altLang="en-US" sz="1400" b="0" dirty="0">
                          <a:effectLst/>
                        </a:rPr>
                        <a:t>模型结构，包括记忆更新、嵌入模块等核心组件，为开源项目 </a:t>
                      </a:r>
                      <a:r>
                        <a:rPr lang="en-US" altLang="zh-CN" sz="1400" b="0" dirty="0">
                          <a:effectLst/>
                        </a:rPr>
                        <a:t>Issue </a:t>
                      </a:r>
                      <a:r>
                        <a:rPr lang="zh-CN" altLang="en-US" sz="1400" b="0" dirty="0">
                          <a:effectLst/>
                        </a:rPr>
                        <a:t>预测等场景提供建模细节。</a:t>
                      </a:r>
                    </a:p>
                  </a:txBody>
                  <a:tcPr marL="57507" marR="57507" marT="38338" marB="38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512069"/>
                  </a:ext>
                </a:extLst>
              </a:tr>
              <a:tr h="1435771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400" b="0">
                          <a:effectLst/>
                        </a:rPr>
                        <a:t>MOMENT-1-large</a:t>
                      </a:r>
                    </a:p>
                  </a:txBody>
                  <a:tcPr marL="57507" marR="57507" marT="38338" marB="38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0">
                          <a:effectLst/>
                        </a:rPr>
                        <a:t>预训练模型文档（</a:t>
                      </a:r>
                      <a:r>
                        <a:rPr lang="en-US" sz="1400" b="0">
                          <a:effectLst/>
                        </a:rPr>
                        <a:t>Hugging Face）</a:t>
                      </a:r>
                    </a:p>
                  </a:txBody>
                  <a:tcPr marL="57507" marR="57507" marT="38338" marB="38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969DA"/>
                          </a:solidFill>
                          <a:effectLst/>
                          <a:hlinkClick r:id="rId5"/>
                        </a:rPr>
                        <a:t>https://huggingface.co/AutonLab/MOMENT-1-large</a:t>
                      </a:r>
                      <a:endParaRPr lang="en-US" sz="1400" b="0" dirty="0">
                        <a:effectLst/>
                      </a:endParaRPr>
                    </a:p>
                  </a:txBody>
                  <a:tcPr marL="57507" marR="57507" marT="38338" marB="38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</a:rPr>
                        <a:t>通用时间序列基础模型，支持零样本 </a:t>
                      </a:r>
                      <a:r>
                        <a:rPr lang="en-US" altLang="zh-CN" sz="1400" b="0" dirty="0">
                          <a:effectLst/>
                        </a:rPr>
                        <a:t>/ </a:t>
                      </a:r>
                      <a:r>
                        <a:rPr lang="zh-CN" altLang="en-US" sz="1400" b="0" dirty="0">
                          <a:effectLst/>
                        </a:rPr>
                        <a:t>少样本预测，可直接微调适配开源项目 </a:t>
                      </a:r>
                      <a:r>
                        <a:rPr lang="en-US" altLang="zh-CN" sz="1400" b="0" dirty="0">
                          <a:effectLst/>
                        </a:rPr>
                        <a:t>Issue </a:t>
                      </a:r>
                      <a:r>
                        <a:rPr lang="zh-CN" altLang="en-US" sz="1400" b="0" dirty="0">
                          <a:effectLst/>
                        </a:rPr>
                        <a:t>优先级、组件依赖趋势等预测场景。</a:t>
                      </a:r>
                    </a:p>
                  </a:txBody>
                  <a:tcPr marL="57507" marR="57507" marT="38338" marB="38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571090"/>
                  </a:ext>
                </a:extLst>
              </a:tr>
              <a:tr h="1435771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400" b="0">
                          <a:effectLst/>
                        </a:rPr>
                        <a:t>MOMENT Research</a:t>
                      </a:r>
                    </a:p>
                  </a:txBody>
                  <a:tcPr marL="57507" marR="57507" marT="38338" marB="38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0">
                          <a:effectLst/>
                        </a:rPr>
                        <a:t>模型开源仓库（</a:t>
                      </a:r>
                      <a:r>
                        <a:rPr lang="en-US" altLang="zh-CN" sz="1400" b="0">
                          <a:effectLst/>
                        </a:rPr>
                        <a:t>GitHub</a:t>
                      </a:r>
                      <a:r>
                        <a:rPr lang="zh-CN" altLang="en-US" sz="1400" b="0">
                          <a:effectLst/>
                        </a:rPr>
                        <a:t>）</a:t>
                      </a:r>
                    </a:p>
                  </a:txBody>
                  <a:tcPr marL="57507" marR="57507" marT="38338" marB="38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en-US" sz="1400" b="0" u="none" strike="noStrike">
                          <a:solidFill>
                            <a:srgbClr val="0969DA"/>
                          </a:solidFill>
                          <a:effectLst/>
                          <a:hlinkClick r:id="rId6"/>
                        </a:rPr>
                        <a:t>https://github.com/moment-timeseries-foundation-model/moment-research</a:t>
                      </a:r>
                      <a:endParaRPr lang="en-US" sz="1400" b="0">
                        <a:effectLst/>
                      </a:endParaRPr>
                    </a:p>
                  </a:txBody>
                  <a:tcPr marL="57507" marR="57507" marT="38338" marB="38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</a:rPr>
                        <a:t>提供 </a:t>
                      </a:r>
                      <a:r>
                        <a:rPr lang="en-US" altLang="zh-CN" sz="1400" b="0" dirty="0">
                          <a:effectLst/>
                        </a:rPr>
                        <a:t>MOMENT </a:t>
                      </a:r>
                      <a:r>
                        <a:rPr lang="zh-CN" altLang="en-US" sz="1400" b="0" dirty="0">
                          <a:effectLst/>
                        </a:rPr>
                        <a:t>模型的完整代码和预训练逻辑，包含时间特征编码、多数据集适配等细节，支撑模型驱动建模的实操落地。</a:t>
                      </a:r>
                    </a:p>
                  </a:txBody>
                  <a:tcPr marL="57507" marR="57507" marT="38338" marB="383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992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9074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C094C-9F3D-1D81-34F1-710971D84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DD99F6-1392-5AAB-62CA-DA672418C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191" y="266874"/>
            <a:ext cx="2876902" cy="889073"/>
          </a:xfrm>
        </p:spPr>
        <p:txBody>
          <a:bodyPr>
            <a:normAutofit/>
          </a:bodyPr>
          <a:lstStyle/>
          <a:p>
            <a:r>
              <a:rPr lang="zh-CN" altLang="en-US" sz="4400" dirty="0"/>
              <a:t>调研总结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ABE59B-A05E-A5A9-3E16-7366558D58C3}"/>
              </a:ext>
            </a:extLst>
          </p:cNvPr>
          <p:cNvSpPr txBox="1"/>
          <p:nvPr/>
        </p:nvSpPr>
        <p:spPr>
          <a:xfrm>
            <a:off x="1063310" y="1747325"/>
            <a:ext cx="1065950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/>
              <a:t>开源项目中的时序图建模主要采用时间快照式、事件驱动式、模型驱动式三类方式</a:t>
            </a:r>
            <a:endParaRPr lang="en-US" altLang="zh-C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/>
              <a:t>不同建模方式在表达能力、可解释性和复杂度之间存在明显权衡，快照式易解释、事件驱动更精细、模型驱动擅预测</a:t>
            </a:r>
            <a:endParaRPr lang="en-US" altLang="zh-CN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04CC68-FE4E-AE2E-3CD7-1F05DC7AA52D}"/>
              </a:ext>
            </a:extLst>
          </p:cNvPr>
          <p:cNvSpPr txBox="1"/>
          <p:nvPr/>
        </p:nvSpPr>
        <p:spPr>
          <a:xfrm>
            <a:off x="1063310" y="3765064"/>
            <a:ext cx="102896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调研发现，现有开源实践中的时序图建模方法要么侧重结构演化、要么侧重预测建模，普遍缺乏对语义信息与决策行为的统一建模，这为引入富语义时序图与智能代理进行统一建模提供了研究空间</a:t>
            </a:r>
          </a:p>
        </p:txBody>
      </p:sp>
    </p:spTree>
    <p:extLst>
      <p:ext uri="{BB962C8B-B14F-4D97-AF65-F5344CB8AC3E}">
        <p14:creationId xmlns:p14="http://schemas.microsoft.com/office/powerpoint/2010/main" val="2054046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1468</TotalTime>
  <Words>1613</Words>
  <Application>Microsoft Office PowerPoint</Application>
  <PresentationFormat>宽屏</PresentationFormat>
  <Paragraphs>156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Inter</vt:lpstr>
      <vt:lpstr>Menlo</vt:lpstr>
      <vt:lpstr>等线</vt:lpstr>
      <vt:lpstr>等线 Light</vt:lpstr>
      <vt:lpstr>Arial</vt:lpstr>
      <vt:lpstr>Office 主题​​</vt:lpstr>
      <vt:lpstr>开源项目如何进行时序图建模调研</vt:lpstr>
      <vt:lpstr>调研目标</vt:lpstr>
      <vt:lpstr>时间快照式时序图建模</vt:lpstr>
      <vt:lpstr>案例:曼彻斯特大学开源软件生态演化分析</vt:lpstr>
      <vt:lpstr>PowerPoint 演示文稿</vt:lpstr>
      <vt:lpstr>事件驱动式时序图建模</vt:lpstr>
      <vt:lpstr>GitHub 开源项目事件驱动建模流程</vt:lpstr>
      <vt:lpstr>事件驱动式建模相关资料</vt:lpstr>
      <vt:lpstr>模型驱动式时序图建模</vt:lpstr>
      <vt:lpstr>PowerPoint 演示文稿</vt:lpstr>
      <vt:lpstr>模型驱动式建模相关资料</vt:lpstr>
      <vt:lpstr>调研总结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志鹏 段</dc:creator>
  <cp:lastModifiedBy>志鹏 段</cp:lastModifiedBy>
  <cp:revision>44</cp:revision>
  <dcterms:created xsi:type="dcterms:W3CDTF">2025-12-17T08:46:46Z</dcterms:created>
  <dcterms:modified xsi:type="dcterms:W3CDTF">2025-12-18T10:10:35Z</dcterms:modified>
</cp:coreProperties>
</file>